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Inter Tight"/>
      <p:regular r:id="rId201315"/>
    </p:embeddedFont>
    <p:embeddedFont>
      <p:font typeface="Inter Tight SemiBold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presentation by setting the core thesis: games are moving away from static, pre-authored branching trees and transforming into reactive, continuous ecosystems that learn and adapt.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gaming leads artificial intelligence research: it offers deep complexity paired with clean telemetry and instant feedback loops, making it the perfect stress test for reinforcement learning and generative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modular layers. Emphasize that generative tools only succeed when anchored by robust perception and strategic decision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static state machines against agentic systems. Explain how moving away from brittle IF-THEN triggers creates games that surprise both players and developers.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character believability: persistent memory creates genuine emotional stakes, while goal planning prevents NPCs from standing idly when combat breaks out nearby.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generative tools remove the friction of early asset blockouts without removing creative oversight. The human designer acts as the creative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personalization creates distinct experiences from identical assets. Highlight that dynamic difficulty and tailored narrative pacing dramatically reduce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developer sentiment: generative tools are not replacing creative craft, but removing the soul-crushing repetitive work of manual asset propagation and regression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of the live-service learning flywheel. Illustrate how automated data loops can stabilize meta shifts and retain players before frustration sets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reality check: trust, control, and unit economics determine which AI features survive beyond tech demos into commercially viable titles.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4820"/>
            <a:ext cx="4063898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[SYS.INIT] RUNTIME_V4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WORLD_STATE: ACTIVE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492813" y="889000"/>
            <a:ext cx="4140096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645209" y="985520"/>
            <a:ext cx="398770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MANIFEST.TXT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2813" y="1264841"/>
            <a:ext cx="4140096" cy="1966615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7757" y="1499791"/>
            <a:ext cx="3670208" cy="149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Paradigm shift:</a:t>
            </a:r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Static scripts → living loops</a:t>
            </a:r>
            <a:endParaRPr lang="en-US" sz="1450" dirty="0"/>
          </a:p>
          <a:p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Core capability:</a:t>
            </a:r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Continuous environmental response</a:t>
            </a:r>
            <a:endParaRPr lang="en-US" sz="14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Industry impact:</a:t>
            </a:r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Dynamic retention and player agency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8786" y="3429000"/>
            <a:ext cx="6730832" cy="2914452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8" name="Text 6"/>
          <p:cNvSpPr/>
          <p:nvPr/>
        </p:nvSpPr>
        <p:spPr>
          <a:xfrm>
            <a:off x="812780" y="3745865"/>
            <a:ext cx="6222844" cy="20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is turning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games into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living systems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12780" y="5903734"/>
            <a:ext cx="683242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INDUSTRY BRIEF · NEXT-GENERATION INTERACTIVE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21407" cy="68763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786" y="541020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[LAB.ENV] SYNTHETIC_SIMULATION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58786" y="862060"/>
            <a:ext cx="675623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Why gaming is the ideal proving ground for AI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58786" y="1906191"/>
            <a:ext cx="6756231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Games provide self-contained, high-fidelity sandboxes where digital agents face human unpredictability under strict, measurable rules.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58786" y="3119041"/>
            <a:ext cx="6756231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711182" y="3215561"/>
            <a:ext cx="6603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SYSTEM_PROPERTIES.LOG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8786" y="3494881"/>
            <a:ext cx="6756231" cy="2301379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331" y="3628231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51" y="3802856"/>
            <a:ext cx="330192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331" y="4475162"/>
            <a:ext cx="18837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Rich worlds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68331" y="4921806"/>
            <a:ext cx="188372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Boundless spatial complexity with clean telemetry.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3109239" y="3628231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860" y="3802856"/>
            <a:ext cx="330192" cy="33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9239" y="4475162"/>
            <a:ext cx="165522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Human intent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109239" y="4921806"/>
            <a:ext cx="1655225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Millions of real-time decisions and edge cases daily.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221653" y="3628231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274" y="3802856"/>
            <a:ext cx="330192" cy="330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21653" y="4475162"/>
            <a:ext cx="18837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Closed feedback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5221653" y="4921806"/>
            <a:ext cx="188372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Clear objective functions with instant outcome scoring.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58786" y="5993428"/>
            <a:ext cx="675623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SIMULATED ENVIRONMENTS VALIDATE COMPLEX MODELS BEFORE REAL-WORLD DEPLOYMENT.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721407" y="0"/>
            <a:ext cx="4470288" cy="6876355"/>
          </a:xfrm>
          <a:prstGeom prst="rect">
            <a:avLst/>
          </a:prstGeom>
          <a:solidFill>
            <a:srgbClr val="A186F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07" y="0"/>
            <a:ext cx="4470288" cy="687635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2874295" y="3628231"/>
            <a:ext cx="12700" cy="203467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18"/>
          <p:cNvSpPr/>
          <p:nvPr/>
        </p:nvSpPr>
        <p:spPr>
          <a:xfrm>
            <a:off x="4986709" y="3628231"/>
            <a:ext cx="12700" cy="2034679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[ARCH.V1] CORE_STACK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Three layers power game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15958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 UNIFIED PIPELINE LINKING RAW TELEMETRY TO REAL-TIME GENERATIVE OUTPUT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786" y="2753816"/>
            <a:ext cx="3547378" cy="28407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080" y="3211016"/>
            <a:ext cx="11401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929557" y="3275707"/>
            <a:ext cx="8812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LAYER 01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0080" y="3677146"/>
            <a:ext cx="30647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8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Perception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0080" y="4187627"/>
            <a:ext cx="3064791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Ingests real-time inputs, spatial context, controller telemetry, and social cues to build an active model of player state.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2059" y="2429966"/>
            <a:ext cx="3547478" cy="31645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63353" y="2887166"/>
            <a:ext cx="11401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4692830" y="2951857"/>
            <a:ext cx="8812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LAYER 02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3353" y="3353296"/>
            <a:ext cx="3064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8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Decision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63353" y="3863777"/>
            <a:ext cx="3064890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Arbitrates tactical utility, narrative pacing, and objective prioritization to determine what the world should do next.</a:t>
            </a:r>
            <a:endParaRPr lang="en-US" sz="1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5431" y="2106116"/>
            <a:ext cx="3547478" cy="34884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326725" y="2563316"/>
            <a:ext cx="11401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2"/>
          <p:cNvSpPr/>
          <p:nvPr/>
        </p:nvSpPr>
        <p:spPr>
          <a:xfrm>
            <a:off x="8456203" y="2628007"/>
            <a:ext cx="8812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LAYER 03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6725" y="3029446"/>
            <a:ext cx="30648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8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Generation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326725" y="3539927"/>
            <a:ext cx="3064890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Synthesizes on-demand dialogue, custom animations, tactical encounters, and local procedural terrain on the fly.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558786" y="6173589"/>
            <a:ext cx="11074123" cy="379710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19130" y="6259632"/>
            <a:ext cx="1081377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PERCEPTION TRANSLATES STATE · DECISION SELECTS STRATEGY · GENERATION CREATES VISIBLE REALITY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[DIFF.MATRIX] SCRIPT_VS_AGENT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From scripted behavior to adaptive worlds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16881"/>
            <a:ext cx="11074123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813401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PARADIGM_COMPARISON.CSV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2092722"/>
            <a:ext cx="11074123" cy="3333452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3730" y="2149872"/>
          <a:ext cx="10604235" cy="914400"/>
        </p:xfrm>
        <a:graphic>
          <a:graphicData uri="http://schemas.openxmlformats.org/drawingml/2006/table">
            <a:tbl>
              <a:tblPr/>
              <a:tblGrid>
                <a:gridCol w="2544997"/>
                <a:gridCol w="4029570"/>
                <a:gridCol w="4029669"/>
              </a:tblGrid>
              <a:tr h="4767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Dimension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Legacy Scripted Engine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Adaptive Living System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  <a:tr h="68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27" kern="1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Logic model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Hardcoded decision trees and triggers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Utility scoring and goal-oriented action planning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  <a:tr h="68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27" kern="1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Player reaction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Predictable spatial exploits and cheese loops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Learns style, adjusts flanks, and counters habits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  <a:tr h="68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27" kern="1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World state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Resets on checkpoint reload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Persistent episodic memory and emergent faction state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  <a:tr h="669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27" kern="1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Pacing curve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Static designer-tuned difficulty spikes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Continuous tension monitoring matching player mastery</a:t>
                      </a:r>
                      <a:endParaRPr lang="en-US" sz="145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8786" y="5426174"/>
            <a:ext cx="11074123" cy="430510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4529" y="5537617"/>
            <a:ext cx="1078838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 TRANSITION REPLACES LINEAR EXECUTION GRAPHS WITH OPEN-ENDED SYSTEMIC AGENCY.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67562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[NPC.COGNITION] AUTONOMOUS_ENTITIES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6451439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AI can make characters feel more alive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752362"/>
            <a:ext cx="645143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NPCs move beyond stationary quest dispensers: purposeful actors with memory, intent, and contextual voice.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8786" y="2829421"/>
            <a:ext cx="6451439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925941"/>
            <a:ext cx="629904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AGENT_CAPABILITIES.TXT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8786" y="3205262"/>
            <a:ext cx="6451439" cy="3271738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30" y="3372108"/>
            <a:ext cx="593075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Persistent episodic memory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Recall encounters, betrayal, and tactical preferences across sessions.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9130" y="4412119"/>
            <a:ext cx="593075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Goal-driven planning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Agents balance competing survival needs rather than repeating loop animations.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9130" y="5452130"/>
            <a:ext cx="5930752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Unscripted dialogue delivery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— Small-footprint language models ground spoken responses in lore and immediate spatial peril.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18212" y="381000"/>
            <a:ext cx="4114697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7670608" y="477520"/>
            <a:ext cx="396230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AGENT_SPECIMEN_09.IMG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18212" y="756841"/>
            <a:ext cx="4114697" cy="5720159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562" y="763191"/>
            <a:ext cx="4101997" cy="570745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19130" y="4169073"/>
            <a:ext cx="593075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819130" y="5209084"/>
            <a:ext cx="5930752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[PIPELINE.OPT] PRODUCTION_VELOCITY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685782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Generative AI expands the content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753791"/>
            <a:ext cx="6857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Studio bottlenecks shift from brute-force asset production to high-level curation, orchestration, and creative direction.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786" y="2952849"/>
            <a:ext cx="3276518" cy="2242046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331" y="3136999"/>
            <a:ext cx="125032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897808" y="3207024"/>
            <a:ext cx="160095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PROTOTYPE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331" y="3574455"/>
            <a:ext cx="28574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Rapid world-building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8331" y="4021098"/>
            <a:ext cx="2857429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Instant generation of quest drafts, environmental variations, and blockout geometry accelerates pre-production.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140096" y="2952849"/>
            <a:ext cx="3276518" cy="2242046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9641" y="3136999"/>
            <a:ext cx="125032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479118" y="3207024"/>
            <a:ext cx="160095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ITERATION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49641" y="3574455"/>
            <a:ext cx="28574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Dynamic audio &amp; mocap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349641" y="4021098"/>
            <a:ext cx="2857429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Procedural scratch voices, reactive ambient scores, and motion blending eliminate placeholder stagnation.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58786" y="5770066"/>
            <a:ext cx="6857828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58786" y="6051371"/>
            <a:ext cx="685782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HUMAN DESIGNERS RETAIN AUTHORSHIP BY DEFINING ART BIBLES, LOGIC GUARDRAILS, AND FINAL POLISH.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24602" y="381000"/>
            <a:ext cx="3708307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076998" y="477520"/>
            <a:ext cx="35559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MESH_GENERATION.IMG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24602" y="756841"/>
            <a:ext cx="3708307" cy="5720159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0952" y="763191"/>
            <a:ext cx="3695608" cy="5707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[UX.VECTOR] MULTI_PATH_DELIVERY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Personalization turns one game into many experiences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15958"/>
            <a:ext cx="110741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 SINGLE CODEBASE ADAPTS ITS RECOMMENDATIONS, PACING, NARRATIVE FOCUS, AND CHALLENGE TO INDIVIDUAL PLAY STYLES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027238"/>
            <a:ext cx="7705135" cy="3555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08965" y="2127966"/>
            <a:ext cx="3020187" cy="24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54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Player State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2908966" y="2464746"/>
            <a:ext cx="3020187" cy="20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Real-time telemetry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2559" y="3981940"/>
            <a:ext cx="1294274" cy="48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5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Adaptive challenge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82559" y="4562716"/>
            <a:ext cx="1294274" cy="41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Micro-calibrated tension.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892" y="3514333"/>
            <a:ext cx="323609" cy="3236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01096" y="4259326"/>
            <a:ext cx="1294274" cy="48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5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Dynamic pacing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2801096" y="4840102"/>
            <a:ext cx="1294274" cy="41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Rest intervals matching stamina.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428" y="3753193"/>
            <a:ext cx="323609" cy="3236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35043" y="4243915"/>
            <a:ext cx="1294274" cy="48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5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Tailored narrative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735043" y="4824692"/>
            <a:ext cx="1294274" cy="41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Quests reflecting choices.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965" y="3737783"/>
            <a:ext cx="323609" cy="3236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38170" y="4012760"/>
            <a:ext cx="1294274" cy="48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spc="-54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Assistive controls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638170" y="4593537"/>
            <a:ext cx="1294274" cy="41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Autonomous ergonomics.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06" y="3522039"/>
            <a:ext cx="323609" cy="323617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58786" y="5868690"/>
            <a:ext cx="11074123" cy="684510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19130" y="6107132"/>
            <a:ext cx="1081377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RETENTION IMPROVES WHEN THE SYSTEM DYNAMICALLY MEETS THE PLAYER AT THEIR EDGE OF MASTERY.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81000"/>
            <a:ext cx="3708307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711182" y="477520"/>
            <a:ext cx="35559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WORKBENCH.IMG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58786" y="756841"/>
            <a:ext cx="3708307" cy="6439098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36" y="763191"/>
            <a:ext cx="3695608" cy="64263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4282" y="388620"/>
            <a:ext cx="74674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[WORKFLOW.LEVERAGE] COGNITIVE_AMPLIFICATION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24282" y="709660"/>
            <a:ext cx="690862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Developers gain leverage, not a magic button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724282" y="1753791"/>
            <a:ext cx="69086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automates tedious mechanical toil so teams spend disproportionate time on high-conviction creative choices.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724282" y="2623741"/>
            <a:ext cx="6908627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4876678" y="2720261"/>
            <a:ext cx="67562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WORK_REALLOCATION.LOG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24282" y="2999581"/>
            <a:ext cx="6908627" cy="4196358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4625" y="3224212"/>
            <a:ext cx="638794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Repetitive tasks offloaded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984625" y="3670856"/>
            <a:ext cx="638794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Collision mesh debugging, automated localization checks, and edge-case QA pass to background workers.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984625" y="4635698"/>
            <a:ext cx="638794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Multiplied creative judgment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984625" y="5082342"/>
            <a:ext cx="638794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Level designers direct algorithmic layout sweeps in hours instead of manually placing foliage for months.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984625" y="6047184"/>
            <a:ext cx="638794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Accelerated experimentation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984625" y="6493828"/>
            <a:ext cx="638794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Prototyping unusual mechanics happens in days, lowering the cost of bold gameplay bets.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984625" y="4385667"/>
            <a:ext cx="638794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6"/>
          <p:cNvSpPr/>
          <p:nvPr/>
        </p:nvSpPr>
        <p:spPr>
          <a:xfrm>
            <a:off x="4984625" y="5797153"/>
            <a:ext cx="6387940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632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[TELEMETRY.LOOP] AUTONOMOUS_OPS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6842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Live-service games can learn from every session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290558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CONTINUOUS LIVE TELEMETRY FEEDS AUTOMATIC BALANCING, TUNING, AND CONTENT INTERVENTIONS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8786" y="2128242"/>
            <a:ext cx="327522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Observe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8786" y="2559348"/>
            <a:ext cx="327522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Collect gameplay logs, churn points, and heatmaps.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7856" y="1747242"/>
            <a:ext cx="3875884" cy="38759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4186" y="2413794"/>
            <a:ext cx="322949" cy="3229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57582" y="2128242"/>
            <a:ext cx="327532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Detect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357582" y="2559348"/>
            <a:ext cx="327532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Identify weapon imbalance, exploits, or player drop-off.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856" y="1747242"/>
            <a:ext cx="3875884" cy="387598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4057" y="2743597"/>
            <a:ext cx="322949" cy="3229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57582" y="4228207"/>
            <a:ext cx="327532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Intervene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8357582" y="4659313"/>
            <a:ext cx="327532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Deploy localized balance patches or dynamic events.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7856" y="1747242"/>
            <a:ext cx="3875884" cy="387598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4262" y="4633516"/>
            <a:ext cx="322949" cy="32295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58786" y="4228207"/>
            <a:ext cx="327522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spc="-66" kern="1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Measure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558786" y="4659313"/>
            <a:ext cx="327522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Verify engagement recovery and adjust algorithmic weights.</a:t>
            </a:r>
            <a:endParaRPr lang="en-US" sz="17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7856" y="1747242"/>
            <a:ext cx="3875884" cy="387598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24391" y="4303712"/>
            <a:ext cx="322949" cy="322957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58786" y="5868789"/>
            <a:ext cx="11074123" cy="684510"/>
          </a:xfrm>
          <a:prstGeom prst="rect">
            <a:avLst/>
          </a:prstGeom>
          <a:solidFill>
            <a:srgbClr val="E6E6E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819130" y="6107232"/>
            <a:ext cx="1081377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GAMES SHIFT FROM STATIC SOFTWARE RELEASES INTO CONTINUOUSLY CALIBRATED ORGANIC SERVICES.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48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[RISK.AUDIT] BOUNDARY_CONDITIONS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858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The hard problems are trust, control, and cost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98191"/>
            <a:ext cx="110741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Building sustainable autonomous game systems requires solving three severe engineering and economic constraints.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786" y="2654399"/>
            <a:ext cx="3488146" cy="2457946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6" name="Shape 4"/>
          <p:cNvSpPr/>
          <p:nvPr/>
        </p:nvSpPr>
        <p:spPr>
          <a:xfrm>
            <a:off x="558786" y="2654399"/>
            <a:ext cx="3488146" cy="6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" y="2863949"/>
            <a:ext cx="80970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91458" y="2933974"/>
            <a:ext cx="116033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TRUST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1981" y="3367286"/>
            <a:ext cx="308175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Creative coherence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1981" y="3894098"/>
            <a:ext cx="308175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Unguarded generative systems drift into nonsensical dialogue and game-breaking lore violations without tight semantic rails.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51725" y="2654399"/>
            <a:ext cx="3488146" cy="2457946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1725" y="2654399"/>
            <a:ext cx="3488146" cy="6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4920" y="2863949"/>
            <a:ext cx="102996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684397" y="2933974"/>
            <a:ext cx="138059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CONTROL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54920" y="3367286"/>
            <a:ext cx="308175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Safety &amp; moderation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54920" y="3894098"/>
            <a:ext cx="308175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Real-time player-facing generation requires sub-second content filtering, copyright protection, and defensive boundaries.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144663" y="2654399"/>
            <a:ext cx="3488246" cy="2457946"/>
          </a:xfrm>
          <a:prstGeom prst="rect">
            <a:avLst/>
          </a:prstGeom>
          <a:solidFill>
            <a:srgbClr val="E6E6E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4663" y="2654399"/>
            <a:ext cx="3488246" cy="6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47858" y="2863949"/>
            <a:ext cx="69957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477336" y="2933974"/>
            <a:ext cx="105020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47858" y="3367286"/>
            <a:ext cx="308185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Inference economics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47858" y="3894098"/>
            <a:ext cx="308185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Running continuous LLMs and diffusion passes per concurrent player destroys server unit margins without edge deployment.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8786" y="5744666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558786" y="6025971"/>
            <a:ext cx="110741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STRATEGIC IMPERATIVE: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 THE WINNERS WILL BE STUDIOS THAT BUILD ROBUST CONTAINMENT ARCHITECTURES AROUND THEIR MODELS.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2026-10-07T08:34:03Z</dcterms:created>
  <dcterms:modified xsi:type="dcterms:W3CDTF">2026-10-07T08:34:03Z</dcterms:modified>
</cp:coreProperties>
</file>