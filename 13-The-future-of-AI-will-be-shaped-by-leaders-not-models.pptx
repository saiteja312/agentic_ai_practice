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Azeret Mono" panose="020B0604020202020204" charset="0"/>
      <p:regular r:id="rId11"/>
    </p:embeddedFont>
    <p:embeddedFont>
      <p:font typeface="Azeret Mono Medium" panose="020B0604020202020204" charset="0"/>
      <p:regular r:id="rId12"/>
    </p:embeddedFont>
    <p:embeddedFont>
      <p:font typeface="Azeret Mono SemiBold" panose="020B0604020202020204" charset="0"/>
      <p:regular r:id="rId13"/>
    </p:embeddedFont>
    <p:embeddedFont>
      <p:font typeface="Krona One" panose="020B0604020202020204" charset="0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604020202020204" charset="0"/>
      <p:regular r:id="rId16"/>
    </p:embeddedFont>
    <p:embeddedFont>
      <p:font typeface="Open Sans SemiBold" panose="020B0706030804020204" pitchFamily="34" charset="0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TEJA" userId="951bd1b8c2eb505f" providerId="LiveId" clId="{C7B98179-CB75-452C-BA5B-C47A59A27C86}"/>
    <pc:docChg chg="undo custSel modSld">
      <pc:chgData name="SAI TEJA" userId="951bd1b8c2eb505f" providerId="LiveId" clId="{C7B98179-CB75-452C-BA5B-C47A59A27C86}" dt="2026-10-07T08:58:29.612" v="19" actId="478"/>
      <pc:docMkLst>
        <pc:docMk/>
      </pc:docMkLst>
      <pc:sldChg chg="delSp modSp mod">
        <pc:chgData name="SAI TEJA" userId="951bd1b8c2eb505f" providerId="LiveId" clId="{C7B98179-CB75-452C-BA5B-C47A59A27C86}" dt="2026-10-07T08:57:30.364" v="1" actId="478"/>
        <pc:sldMkLst>
          <pc:docMk/>
          <pc:sldMk cId="0" sldId="256"/>
        </pc:sldMkLst>
        <pc:spChg chg="del mod">
          <ac:chgData name="SAI TEJA" userId="951bd1b8c2eb505f" providerId="LiveId" clId="{C7B98179-CB75-452C-BA5B-C47A59A27C86}" dt="2026-10-07T08:57:30.364" v="1" actId="478"/>
          <ac:spMkLst>
            <pc:docMk/>
            <pc:sldMk cId="0" sldId="256"/>
            <ac:spMk id="9" creationId="{6CDC44F5-91F0-C35E-C22B-DD0255E6A5B6}"/>
          </ac:spMkLst>
        </pc:spChg>
      </pc:sldChg>
      <pc:sldChg chg="addSp delSp modSp mod">
        <pc:chgData name="SAI TEJA" userId="951bd1b8c2eb505f" providerId="LiveId" clId="{C7B98179-CB75-452C-BA5B-C47A59A27C86}" dt="2026-10-07T08:57:52.220" v="8" actId="478"/>
        <pc:sldMkLst>
          <pc:docMk/>
          <pc:sldMk cId="0" sldId="257"/>
        </pc:sldMkLst>
        <pc:spChg chg="add del">
          <ac:chgData name="SAI TEJA" userId="951bd1b8c2eb505f" providerId="LiveId" clId="{C7B98179-CB75-452C-BA5B-C47A59A27C86}" dt="2026-10-07T08:57:52.220" v="8" actId="478"/>
          <ac:spMkLst>
            <pc:docMk/>
            <pc:sldMk cId="0" sldId="257"/>
            <ac:spMk id="21" creationId="{57778C6B-1215-3FCB-63C1-814DC5F46805}"/>
          </ac:spMkLst>
        </pc:spChg>
        <pc:picChg chg="add del mod">
          <ac:chgData name="SAI TEJA" userId="951bd1b8c2eb505f" providerId="LiveId" clId="{C7B98179-CB75-452C-BA5B-C47A59A27C86}" dt="2026-10-07T08:57:49.262" v="7" actId="1076"/>
          <ac:picMkLst>
            <pc:docMk/>
            <pc:sldMk cId="0" sldId="257"/>
            <ac:picMk id="17" creationId="{2F65049C-162C-8AE0-020E-929E6C75281D}"/>
          </ac:picMkLst>
        </pc:picChg>
      </pc:sldChg>
      <pc:sldChg chg="delSp mod">
        <pc:chgData name="SAI TEJA" userId="951bd1b8c2eb505f" providerId="LiveId" clId="{C7B98179-CB75-452C-BA5B-C47A59A27C86}" dt="2026-10-07T08:57:57.017" v="9" actId="478"/>
        <pc:sldMkLst>
          <pc:docMk/>
          <pc:sldMk cId="0" sldId="258"/>
        </pc:sldMkLst>
        <pc:spChg chg="del">
          <ac:chgData name="SAI TEJA" userId="951bd1b8c2eb505f" providerId="LiveId" clId="{C7B98179-CB75-452C-BA5B-C47A59A27C86}" dt="2026-10-07T08:57:57.017" v="9" actId="478"/>
          <ac:spMkLst>
            <pc:docMk/>
            <pc:sldMk cId="0" sldId="258"/>
            <ac:spMk id="14" creationId="{2201A1FB-FD51-0B20-A7CF-1E5D31A12C42}"/>
          </ac:spMkLst>
        </pc:spChg>
      </pc:sldChg>
      <pc:sldChg chg="delSp modSp mod">
        <pc:chgData name="SAI TEJA" userId="951bd1b8c2eb505f" providerId="LiveId" clId="{C7B98179-CB75-452C-BA5B-C47A59A27C86}" dt="2026-10-07T08:58:03.026" v="11" actId="478"/>
        <pc:sldMkLst>
          <pc:docMk/>
          <pc:sldMk cId="0" sldId="259"/>
        </pc:sldMkLst>
        <pc:spChg chg="del mod">
          <ac:chgData name="SAI TEJA" userId="951bd1b8c2eb505f" providerId="LiveId" clId="{C7B98179-CB75-452C-BA5B-C47A59A27C86}" dt="2026-10-07T08:58:03.026" v="11" actId="478"/>
          <ac:spMkLst>
            <pc:docMk/>
            <pc:sldMk cId="0" sldId="259"/>
            <ac:spMk id="19" creationId="{85A88D5D-13AF-0654-717D-4FF6D5A3E71C}"/>
          </ac:spMkLst>
        </pc:spChg>
      </pc:sldChg>
      <pc:sldChg chg="addSp delSp mod">
        <pc:chgData name="SAI TEJA" userId="951bd1b8c2eb505f" providerId="LiveId" clId="{C7B98179-CB75-452C-BA5B-C47A59A27C86}" dt="2026-10-07T08:58:13.630" v="14" actId="478"/>
        <pc:sldMkLst>
          <pc:docMk/>
          <pc:sldMk cId="0" sldId="260"/>
        </pc:sldMkLst>
        <pc:spChg chg="del">
          <ac:chgData name="SAI TEJA" userId="951bd1b8c2eb505f" providerId="LiveId" clId="{C7B98179-CB75-452C-BA5B-C47A59A27C86}" dt="2026-10-07T08:58:13.630" v="14" actId="478"/>
          <ac:spMkLst>
            <pc:docMk/>
            <pc:sldMk cId="0" sldId="260"/>
            <ac:spMk id="16" creationId="{195C0778-8131-4754-2DE7-91090EBC580E}"/>
          </ac:spMkLst>
        </pc:spChg>
        <pc:picChg chg="add del">
          <ac:chgData name="SAI TEJA" userId="951bd1b8c2eb505f" providerId="LiveId" clId="{C7B98179-CB75-452C-BA5B-C47A59A27C86}" dt="2026-10-07T08:58:09.350" v="13" actId="478"/>
          <ac:picMkLst>
            <pc:docMk/>
            <pc:sldMk cId="0" sldId="260"/>
            <ac:picMk id="13" creationId="{00000000-0000-0000-0000-000000000000}"/>
          </ac:picMkLst>
        </pc:picChg>
      </pc:sldChg>
      <pc:sldChg chg="delSp mod">
        <pc:chgData name="SAI TEJA" userId="951bd1b8c2eb505f" providerId="LiveId" clId="{C7B98179-CB75-452C-BA5B-C47A59A27C86}" dt="2026-10-07T08:58:17.568" v="15" actId="478"/>
        <pc:sldMkLst>
          <pc:docMk/>
          <pc:sldMk cId="0" sldId="261"/>
        </pc:sldMkLst>
        <pc:spChg chg="del">
          <ac:chgData name="SAI TEJA" userId="951bd1b8c2eb505f" providerId="LiveId" clId="{C7B98179-CB75-452C-BA5B-C47A59A27C86}" dt="2026-10-07T08:58:17.568" v="15" actId="478"/>
          <ac:spMkLst>
            <pc:docMk/>
            <pc:sldMk cId="0" sldId="261"/>
            <ac:spMk id="14" creationId="{BF792D7F-901B-7E55-BECD-F4858067FFC3}"/>
          </ac:spMkLst>
        </pc:spChg>
      </pc:sldChg>
      <pc:sldChg chg="delSp mod">
        <pc:chgData name="SAI TEJA" userId="951bd1b8c2eb505f" providerId="LiveId" clId="{C7B98179-CB75-452C-BA5B-C47A59A27C86}" dt="2026-10-07T08:58:21.465" v="16" actId="478"/>
        <pc:sldMkLst>
          <pc:docMk/>
          <pc:sldMk cId="0" sldId="262"/>
        </pc:sldMkLst>
        <pc:spChg chg="del">
          <ac:chgData name="SAI TEJA" userId="951bd1b8c2eb505f" providerId="LiveId" clId="{C7B98179-CB75-452C-BA5B-C47A59A27C86}" dt="2026-10-07T08:58:21.465" v="16" actId="478"/>
          <ac:spMkLst>
            <pc:docMk/>
            <pc:sldMk cId="0" sldId="262"/>
            <ac:spMk id="21" creationId="{D48339AD-D03E-125C-F774-13734B921B3A}"/>
          </ac:spMkLst>
        </pc:spChg>
      </pc:sldChg>
      <pc:sldChg chg="addSp delSp mod">
        <pc:chgData name="SAI TEJA" userId="951bd1b8c2eb505f" providerId="LiveId" clId="{C7B98179-CB75-452C-BA5B-C47A59A27C86}" dt="2026-10-07T08:58:29.612" v="19" actId="478"/>
        <pc:sldMkLst>
          <pc:docMk/>
          <pc:sldMk cId="0" sldId="263"/>
        </pc:sldMkLst>
        <pc:spChg chg="del">
          <ac:chgData name="SAI TEJA" userId="951bd1b8c2eb505f" providerId="LiveId" clId="{C7B98179-CB75-452C-BA5B-C47A59A27C86}" dt="2026-10-07T08:58:29.612" v="19" actId="478"/>
          <ac:spMkLst>
            <pc:docMk/>
            <pc:sldMk cId="0" sldId="263"/>
            <ac:spMk id="17" creationId="{1A35B152-E741-8784-15AA-C1968D697907}"/>
          </ac:spMkLst>
        </pc:spChg>
        <pc:picChg chg="add del">
          <ac:chgData name="SAI TEJA" userId="951bd1b8c2eb505f" providerId="LiveId" clId="{C7B98179-CB75-452C-BA5B-C47A59A27C86}" dt="2026-10-07T08:58:26.842" v="18" actId="478"/>
          <ac:picMkLst>
            <pc:docMk/>
            <pc:sldMk cId="0" sldId="263"/>
            <ac:picMk id="1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213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idea: AI is not one feature or chatbot. It is a technology stack—data, models, compute, tools, and interfaces—that can turn unstructured information into predictions, content, and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stack from bottom to top: data and compute enable models; models provide general capability; tools, retrieval, and evaluation turn that capability into a dependable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chart as a capability ladder: AI starts with prediction and classification, then expands into generation, reasoning, and action when connected to tools and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pipeline: pretraining builds broad capability, inference produces an answer, and grounding adds current evidence or actions. The system remains probabilistic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limits visible: test against real tasks, cite sources where possible, restrict permissions, monitor drift, and keep accountable review for high-impact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model is only one layer. The product experience depends on retrieval, tool use, evaluation, security, and operations wrapped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three patterns to show the trajectory: copilots augment a person, agents coordinate software, and embodied systems act in the physical world. Each step raises the stakes for evaluation and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practical thesis: the winning AI technology is not merely the largest model. It is the system that combines capability with evidence, tools, evaluation, and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4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53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48298"/>
            <a:ext cx="589265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AI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442899"/>
            <a:ext cx="5283068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AI technology is becoming </a:t>
            </a:r>
            <a:r>
              <a:rPr lang="en-US" sz="3600" kern="100" spc="-10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 new kind of computer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108821"/>
            <a:ext cx="5283068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 models can perceive, generate, reason, and act—turning language, images, and code into an interface for software and machines.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4826496"/>
            <a:ext cx="1743230" cy="279301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5360531"/>
            <a:ext cx="5283068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A field guide to models, systems, capabilities, and limits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THE 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584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AI systems combine </a:t>
            </a:r>
            <a:r>
              <a:rPr lang="en-US" sz="2600" kern="100" spc="-7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models, data, and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2400935"/>
            <a:ext cx="548626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THE MODEL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585" y="2782530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Foundation Models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585" y="3274139"/>
            <a:ext cx="525766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 models learn statistical structure from text, images, audio, video, and code—then generate a response from context.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4344531"/>
            <a:ext cx="5257668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Scale comes from pretraining, specialized fine-tuning, and inference.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24442" y="2400935"/>
            <a:ext cx="525766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THE SYSTEM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24442" y="2782530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Tools &amp; Feedback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324442" y="3274139"/>
            <a:ext cx="525766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 systems add retrieval, APIs, memory, evaluation, and permissions so a model can use current knowledge and take bounded actions.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24442" y="4344531"/>
            <a:ext cx="5257668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The interface is conversational; the architecture underneath is software.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585" y="5915124"/>
            <a:ext cx="3620798" cy="279301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9498" y="2393950"/>
            <a:ext cx="12700" cy="2306737"/>
          </a:xfrm>
          <a:prstGeom prst="rect">
            <a:avLst/>
          </a:prstGeom>
          <a:solidFill>
            <a:srgbClr val="2F6B61"/>
          </a:solidFill>
          <a:ln/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65049C-162C-8AE0-020E-929E6C752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460" y="6156899"/>
            <a:ext cx="1562235" cy="7011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58195"/>
            <a:ext cx="643119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242194"/>
            <a:ext cx="582161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AI expands what software can </a:t>
            </a:r>
            <a:r>
              <a:rPr lang="en-US" sz="2600" kern="100" spc="-7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understand and produce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481957"/>
            <a:ext cx="5821614" cy="27943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369064"/>
            <a:ext cx="5821614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Illustrative capability map: modern AI systems move from recognizing patterns to generating and transforming information.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107457" y="1845905"/>
            <a:ext cx="3474653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132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4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107457" y="2577306"/>
            <a:ext cx="347465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capability families: perceive, predict, generate, and act.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07457" y="3507105"/>
            <a:ext cx="3474653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leap is not one clever prompt. It is connecting models to context, tools, and feedback so outputs become useful, testable, and repeatable.</a:t>
            </a: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C61789-837D-D0AD-1F25-4EB954C7E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765" y="6309312"/>
            <a:ext cx="1562235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584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Every AI response is a </a:t>
            </a:r>
            <a:r>
              <a:rPr lang="en-US" sz="2600" kern="100" spc="-7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probabilistic prediction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585" y="2540099"/>
            <a:ext cx="3352716" cy="3810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864385"/>
            <a:ext cx="3124122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132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09585" y="3595310"/>
            <a:ext cx="312412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Pretraining: learn statistical patterns from enormous datasets.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19489" y="2540099"/>
            <a:ext cx="3352716" cy="3810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8" name="Text 6"/>
          <p:cNvSpPr/>
          <p:nvPr/>
        </p:nvSpPr>
        <p:spPr>
          <a:xfrm>
            <a:off x="4419489" y="2864385"/>
            <a:ext cx="3124122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132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19489" y="3595310"/>
            <a:ext cx="312412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Inference: generate the next token, pixel, action, or prediction from context.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394" y="2540099"/>
            <a:ext cx="3352716" cy="3810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394" y="2864385"/>
            <a:ext cx="3124122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132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394" y="3595310"/>
            <a:ext cx="312412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Grounding: retrieve evidence and call tools to improve relevance and control.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585" y="6073914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The output is powerful—but confidence is not the same as correctness.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0C5B806-23BB-E103-33B3-455647BF3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764" y="6316933"/>
            <a:ext cx="1341236" cy="541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37570"/>
            <a:ext cx="609584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LIMITS &amp;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321569"/>
            <a:ext cx="548626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AI is powerful precisely where </a:t>
            </a:r>
            <a:r>
              <a:rPr lang="en-US" sz="2600" kern="100" spc="-7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its limits matter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2229664"/>
            <a:ext cx="5486263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Models can be fluent, fast, and wrong. Reliability depends on the data, the prompt, the evaluation method, and the controls around deployment.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359745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7552" y="3480395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93770" y="3375938"/>
            <a:ext cx="490207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Hallucination &amp; Uncertainty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93770" y="3814862"/>
            <a:ext cx="490207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content can sound certain without being supported by evidence.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822130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7552" y="4942780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93770" y="4838323"/>
            <a:ext cx="490207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Bias, Privacy &amp; Security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93770" y="5277247"/>
            <a:ext cx="490207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data and system access can reproduce bias, leak sensitive information, or widen attack surfaces.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432" y="0"/>
            <a:ext cx="5486263" cy="6858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9585" y="4587180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595863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FROM MODEL TO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584"/>
            <a:ext cx="5958631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gap is no longer the model—</a:t>
            </a:r>
            <a:r>
              <a:rPr lang="en-US" sz="2600" kern="100" spc="-7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it is the system around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2162572"/>
            <a:ext cx="5958631" cy="2005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foundation model is a starting point. Production value appears when the model is connected to data, tools, interfaces, and evaluation.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engineering challenge is integration: retrieval quality, latency, cost, permissions, observability, and graceful failure.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4301768"/>
            <a:ext cx="595863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A useful mental model: model + context + tools + evaluation = AI product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305" y="770037"/>
            <a:ext cx="4317892" cy="304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25305" y="3976787"/>
            <a:ext cx="215895" cy="177800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sp>
        <p:nvSpPr>
          <p:cNvPr id="8" name="Text 5"/>
          <p:cNvSpPr/>
          <p:nvPr/>
        </p:nvSpPr>
        <p:spPr>
          <a:xfrm>
            <a:off x="7342798" y="3947418"/>
            <a:ext cx="188471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4EFE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30% Foundation model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379906" y="3976787"/>
            <a:ext cx="215895" cy="177800"/>
          </a:xfrm>
          <a:prstGeom prst="roundRect">
            <a:avLst>
              <a:gd name="adj" fmla="val 49999"/>
            </a:avLst>
          </a:prstGeom>
          <a:solidFill>
            <a:srgbClr val="BFD3CB"/>
          </a:solidFill>
          <a:ln/>
        </p:spPr>
      </p:sp>
      <p:sp>
        <p:nvSpPr>
          <p:cNvPr id="10" name="Text 7"/>
          <p:cNvSpPr/>
          <p:nvPr/>
        </p:nvSpPr>
        <p:spPr>
          <a:xfrm>
            <a:off x="9697398" y="3947418"/>
            <a:ext cx="188471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70% Application system</a:t>
            </a:r>
            <a:endParaRPr lang="en-US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1D3ADB-8E06-B6DE-DDD1-99E1B9988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457" y="6362657"/>
            <a:ext cx="1219306" cy="4953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APPLICATION 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0584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next wave connects AI to </a:t>
            </a:r>
            <a:r>
              <a:rPr lang="en-US" sz="2600" kern="100" spc="-7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real world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451769"/>
            <a:ext cx="1097252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applications are moving from answering questions to perceiving environments, coordinating steps, and operating within boundaries.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762151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7552" y="2882801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9585" y="3359686"/>
            <a:ext cx="335271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Copilots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09585" y="3851295"/>
            <a:ext cx="3352716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 people inside the tools they already use: draft, search, summarize, explain, and recommend.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489" y="2762151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27457" y="2882801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419489" y="3359686"/>
            <a:ext cx="335271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Agents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4419489" y="3851295"/>
            <a:ext cx="3352716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and execute multi-step tasks by calling tools, checking state, and adapting to results.</a:t>
            </a:r>
            <a:endParaRPr lang="en-US" sz="1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394" y="2762151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37361" y="2882801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29394" y="3359686"/>
            <a:ext cx="335271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Embodied AI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8229394" y="3851295"/>
            <a:ext cx="3352716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Bring perception and reasoning into robots, vehicles, labs, and edge devices where latency and safety are physical constraints.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09585" y="5915025"/>
            <a:ext cx="3620798" cy="279301"/>
          </a:xfrm>
          <a:prstGeom prst="roundRect">
            <a:avLst>
              <a:gd name="adj" fmla="val 49999"/>
            </a:avLst>
          </a:prstGeom>
          <a:solidFill>
            <a:srgbClr val="F58E84"/>
          </a:solidFill>
          <a:ln/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5D6725-36B1-41C9-FB63-924CAAF2E2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046" y="6286450"/>
            <a:ext cx="1714649" cy="571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57513"/>
            <a:ext cx="629904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THE AI TECHNOLOGY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352113"/>
            <a:ext cx="5689458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Build an AI stack that is </a:t>
            </a:r>
            <a:r>
              <a:rPr lang="en-US" sz="3600" kern="100" spc="-10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useful, testable, and safe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014861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7552" y="3135511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93770" y="3017560"/>
            <a:ext cx="510527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 the stack: data, model, context, tools, interface, and evaluation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098131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7552" y="4218781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93770" y="4100830"/>
            <a:ext cx="510527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capabilities on real tasks: accuracy, latency, cost, robustness, and failure modes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181402"/>
            <a:ext cx="431789" cy="43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7552" y="5302052"/>
            <a:ext cx="73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Azeret Mono SemiBold" pitchFamily="34" charset="0"/>
                <a:ea typeface="Azeret Mono SemiBold" pitchFamily="34" charset="-122"/>
                <a:cs typeface="Azeret Mon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93770" y="5184100"/>
            <a:ext cx="510527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for control: least-privilege access, monitoring, human review, and clear rollback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09585" y="3863181"/>
            <a:ext cx="5689458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15" name="Shape 9"/>
          <p:cNvSpPr/>
          <p:nvPr/>
        </p:nvSpPr>
        <p:spPr>
          <a:xfrm>
            <a:off x="609585" y="4946452"/>
            <a:ext cx="5689458" cy="12700"/>
          </a:xfrm>
          <a:prstGeom prst="rect">
            <a:avLst/>
          </a:prstGeom>
          <a:solidFill>
            <a:srgbClr val="2F6B6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884</Words>
  <Application>Microsoft Office PowerPoint</Application>
  <PresentationFormat>Widescreen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Krona One</vt:lpstr>
      <vt:lpstr>Azeret Mono Medium</vt:lpstr>
      <vt:lpstr>Azeret Mono</vt:lpstr>
      <vt:lpstr>Open Sans</vt:lpstr>
      <vt:lpstr>Open Sans SemiBold</vt:lpstr>
      <vt:lpstr>Azeret Mono SemiBold</vt:lpstr>
      <vt:lpstr>Open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 TEJA</cp:lastModifiedBy>
  <cp:revision>3</cp:revision>
  <dcterms:created xsi:type="dcterms:W3CDTF">2026-10-07T06:04:43Z</dcterms:created>
  <dcterms:modified xsi:type="dcterms:W3CDTF">2026-10-07T08:58:31Z</dcterms:modified>
</cp:coreProperties>
</file>