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Red Hat Mono Medium" panose="020B0604020202020204" charset="0"/>
      <p:regular r:id="rId8"/>
    </p:embeddedFont>
    <p:embeddedFont>
      <p:font typeface="Rethink Sans" panose="020B0604020202020204" charset="0"/>
      <p:regular r:id="rId9"/>
    </p:embeddedFont>
    <p:embeddedFont>
      <p:font typeface="Rethink Sans SemiBold" panose="020B0604020202020204" charset="0"/>
      <p:regular r:id="rId10"/>
    </p:embeddedFont>
    <p:embeddedFont>
      <p:font typeface="Sofia Sans Extra Condensed Bold" panose="020B0604020202020204" charset="0"/>
      <p:regular r:id="rId11"/>
    </p:embeddedFont>
    <p:embeddedFont>
      <p:font typeface="Sofia Sans Extra Condensed Extra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TEJA" userId="951bd1b8c2eb505f" providerId="LiveId" clId="{C7B98179-CB75-452C-BA5B-C47A59A27C86}"/>
    <pc:docChg chg="undo custSel modSld">
      <pc:chgData name="SAI TEJA" userId="951bd1b8c2eb505f" providerId="LiveId" clId="{C7B98179-CB75-452C-BA5B-C47A59A27C86}" dt="2026-10-07T08:57:08.989" v="69" actId="20577"/>
      <pc:docMkLst>
        <pc:docMk/>
      </pc:docMkLst>
      <pc:sldChg chg="addSp delSp modSp mod">
        <pc:chgData name="SAI TEJA" userId="951bd1b8c2eb505f" providerId="LiveId" clId="{C7B98179-CB75-452C-BA5B-C47A59A27C86}" dt="2026-10-07T08:57:08.989" v="69" actId="20577"/>
        <pc:sldMkLst>
          <pc:docMk/>
          <pc:sldMk cId="0" sldId="256"/>
        </pc:sldMkLst>
        <pc:spChg chg="mod">
          <ac:chgData name="SAI TEJA" userId="951bd1b8c2eb505f" providerId="LiveId" clId="{C7B98179-CB75-452C-BA5B-C47A59A27C86}" dt="2026-10-07T08:57:08.989" v="69" actId="20577"/>
          <ac:spMkLst>
            <pc:docMk/>
            <pc:sldMk cId="0" sldId="256"/>
            <ac:spMk id="3" creationId="{00000000-0000-0000-0000-000000000000}"/>
          </ac:spMkLst>
        </pc:spChg>
        <pc:spChg chg="del">
          <ac:chgData name="SAI TEJA" userId="951bd1b8c2eb505f" providerId="LiveId" clId="{C7B98179-CB75-452C-BA5B-C47A59A27C86}" dt="2026-10-07T08:56:06.076" v="27" actId="478"/>
          <ac:spMkLst>
            <pc:docMk/>
            <pc:sldMk cId="0" sldId="256"/>
            <ac:spMk id="17" creationId="{7F0A2B01-1693-07C9-3E4B-B0EECBD19744}"/>
          </ac:spMkLst>
        </pc:spChg>
        <pc:spChg chg="mod">
          <ac:chgData name="SAI TEJA" userId="951bd1b8c2eb505f" providerId="LiveId" clId="{C7B98179-CB75-452C-BA5B-C47A59A27C86}" dt="2026-10-07T08:38:07.712" v="23" actId="1076"/>
          <ac:spMkLst>
            <pc:docMk/>
            <pc:sldMk cId="0" sldId="256"/>
            <ac:spMk id="23" creationId="{877DFC60-8E3C-8F60-7FE2-00CFE93A60EF}"/>
          </ac:spMkLst>
        </pc:spChg>
        <pc:picChg chg="add del mod">
          <ac:chgData name="SAI TEJA" userId="951bd1b8c2eb505f" providerId="LiveId" clId="{C7B98179-CB75-452C-BA5B-C47A59A27C86}" dt="2026-10-07T08:40:20.704" v="26" actId="478"/>
          <ac:picMkLst>
            <pc:docMk/>
            <pc:sldMk cId="0" sldId="256"/>
            <ac:picMk id="4" creationId="{3823454E-17A7-1912-31D3-DBF8AD94C840}"/>
          </ac:picMkLst>
        </pc:picChg>
        <pc:picChg chg="del">
          <ac:chgData name="SAI TEJA" userId="951bd1b8c2eb505f" providerId="LiveId" clId="{C7B98179-CB75-452C-BA5B-C47A59A27C86}" dt="2026-10-07T08:56:11.772" v="29" actId="478"/>
          <ac:picMkLst>
            <pc:docMk/>
            <pc:sldMk cId="0" sldId="256"/>
            <ac:picMk id="12" creationId="{4F3F3348-DCB9-0DF2-B6C3-6CC21ACC68F3}"/>
          </ac:picMkLst>
        </pc:picChg>
      </pc:sldChg>
      <pc:sldChg chg="addSp delSp mod">
        <pc:chgData name="SAI TEJA" userId="951bd1b8c2eb505f" providerId="LiveId" clId="{C7B98179-CB75-452C-BA5B-C47A59A27C86}" dt="2026-10-07T08:37:52.732" v="21" actId="22"/>
        <pc:sldMkLst>
          <pc:docMk/>
          <pc:sldMk cId="0" sldId="258"/>
        </pc:sldMkLst>
        <pc:picChg chg="add del">
          <ac:chgData name="SAI TEJA" userId="951bd1b8c2eb505f" providerId="LiveId" clId="{C7B98179-CB75-452C-BA5B-C47A59A27C86}" dt="2026-10-07T08:37:52.732" v="21" actId="22"/>
          <ac:picMkLst>
            <pc:docMk/>
            <pc:sldMk cId="0" sldId="258"/>
            <ac:picMk id="21" creationId="{CEC3DF8A-448E-8178-4074-37BA27519E1D}"/>
          </ac:picMkLst>
        </pc:picChg>
        <pc:picChg chg="add del">
          <ac:chgData name="SAI TEJA" userId="951bd1b8c2eb505f" providerId="LiveId" clId="{C7B98179-CB75-452C-BA5B-C47A59A27C86}" dt="2026-10-07T08:37:52.219" v="20" actId="22"/>
          <ac:picMkLst>
            <pc:docMk/>
            <pc:sldMk cId="0" sldId="258"/>
            <ac:picMk id="24" creationId="{27A56647-2497-731C-33A4-FC743E59E22E}"/>
          </ac:picMkLst>
        </pc:picChg>
        <pc:picChg chg="add del">
          <ac:chgData name="SAI TEJA" userId="951bd1b8c2eb505f" providerId="LiveId" clId="{C7B98179-CB75-452C-BA5B-C47A59A27C86}" dt="2026-10-07T08:37:51.972" v="19" actId="22"/>
          <ac:picMkLst>
            <pc:docMk/>
            <pc:sldMk cId="0" sldId="258"/>
            <ac:picMk id="26" creationId="{B3B866C1-755B-1911-98A6-46FBF9211ED4}"/>
          </ac:picMkLst>
        </pc:picChg>
        <pc:picChg chg="add del">
          <ac:chgData name="SAI TEJA" userId="951bd1b8c2eb505f" providerId="LiveId" clId="{C7B98179-CB75-452C-BA5B-C47A59A27C86}" dt="2026-10-07T08:37:51.758" v="18" actId="22"/>
          <ac:picMkLst>
            <pc:docMk/>
            <pc:sldMk cId="0" sldId="258"/>
            <ac:picMk id="28" creationId="{0B7D26BB-368D-2F03-B080-D2A2643F53DE}"/>
          </ac:picMkLst>
        </pc:picChg>
        <pc:picChg chg="add del">
          <ac:chgData name="SAI TEJA" userId="951bd1b8c2eb505f" providerId="LiveId" clId="{C7B98179-CB75-452C-BA5B-C47A59A27C86}" dt="2026-10-07T08:37:51.542" v="17" actId="22"/>
          <ac:picMkLst>
            <pc:docMk/>
            <pc:sldMk cId="0" sldId="258"/>
            <ac:picMk id="31" creationId="{A64EFAEC-027C-C678-6C47-4F9FDC35AC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301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inflection point: early exploratory pilots proved technological feasibility, but durable enterprise value requires embedding AI directly into production operating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successful deployments meet all three criteria: repetitive tasks provide volume, dense data feeds models, and clear unit economics prove operational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three-part continuum: prediction uncovers what is happening, generation accelerates synthesis, and autonomous action completes the loop inside standard operating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 that scores are illustrative and directional. Point out the clear takeaway: prioritize workflow automation and decision support early, avoiding complex autonomous bets until foundations are solid.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closing mandate: enterprise winners avoid open-ended research initiatives by treating AI adoption as an iterative operating rhythm centered on frontline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65460" y="2497145"/>
            <a:ext cx="8220591" cy="1465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10400" kern="100" spc="-52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AI IS MOVING FROM EXPERIMENT TO OPERATING ADVANTAGE </a:t>
            </a:r>
          </a:p>
          <a:p>
            <a:pPr marL="0" indent="0" algn="l">
              <a:lnSpc>
                <a:spcPct val="77000"/>
              </a:lnSpc>
              <a:buNone/>
            </a:pPr>
            <a:endParaRPr lang="en-US" sz="10400" kern="100" spc="-52" dirty="0">
              <a:solidFill>
                <a:srgbClr val="EDE7DD"/>
              </a:solidFill>
              <a:latin typeface="Sofia Sans Extra Condensed ExtraBold" pitchFamily="34" charset="0"/>
              <a:ea typeface="Sofia Sans Extra Condensed ExtraBold" pitchFamily="34" charset="-122"/>
              <a:cs typeface="Sofia Sans Extra Condensed ExtraBold" pitchFamily="34" charset="-120"/>
            </a:endParaRPr>
          </a:p>
          <a:p>
            <a:pPr>
              <a:lnSpc>
                <a:spcPct val="77000"/>
              </a:lnSpc>
            </a:pPr>
            <a:endParaRPr lang="en-US" sz="10400" kern="100" spc="-52" dirty="0">
              <a:solidFill>
                <a:srgbClr val="EDE7DD"/>
              </a:solidFill>
              <a:latin typeface="Sofia Sans Extra Condensed ExtraBold" pitchFamily="34" charset="0"/>
              <a:ea typeface="Sofia Sans Extra Condensed ExtraBold" pitchFamily="34" charset="-122"/>
              <a:cs typeface="Sofia Sans Extra Condensed ExtraBold" pitchFamily="34" charset="-120"/>
            </a:endParaRPr>
          </a:p>
          <a:p>
            <a:pPr>
              <a:lnSpc>
                <a:spcPct val="77000"/>
              </a:lnSpc>
            </a:pPr>
            <a:endParaRPr lang="en-US" sz="10400" kern="100" spc="-52" dirty="0">
              <a:solidFill>
                <a:srgbClr val="EDE7DD"/>
              </a:solidFill>
              <a:latin typeface="Sofia Sans Extra Condensed ExtraBold" pitchFamily="34" charset="0"/>
              <a:ea typeface="Sofia Sans Extra Condensed ExtraBold" pitchFamily="34" charset="-122"/>
              <a:cs typeface="Sofia Sans Extra Condensed ExtraBold" pitchFamily="34" charset="-120"/>
            </a:endParaRPr>
          </a:p>
          <a:p>
            <a:pPr>
              <a:lnSpc>
                <a:spcPct val="77000"/>
              </a:lnSpc>
            </a:pPr>
            <a:endParaRPr lang="en-US" sz="10400" dirty="0"/>
          </a:p>
          <a:p>
            <a:pPr marL="0" indent="0" algn="l">
              <a:lnSpc>
                <a:spcPct val="77000"/>
              </a:lnSpc>
              <a:buNone/>
            </a:pPr>
            <a:endParaRPr lang="en-US" sz="10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D6E24C-0630-C041-60CC-B9EC2E32E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8838" y="6496336"/>
            <a:ext cx="1103162" cy="36166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77DFC60-8E3C-8F60-7FE2-00CFE93A60EF}"/>
              </a:ext>
            </a:extLst>
          </p:cNvPr>
          <p:cNvSpPr txBox="1"/>
          <p:nvPr/>
        </p:nvSpPr>
        <p:spPr>
          <a:xfrm>
            <a:off x="11160307" y="6516419"/>
            <a:ext cx="1031693" cy="3214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>
              <a:lnSpc>
                <a:spcPct val="77000"/>
              </a:lnSpc>
            </a:pPr>
            <a:r>
              <a:rPr lang="en-US" kern="100" spc="-52" dirty="0">
                <a:solidFill>
                  <a:schemeClr val="bg1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261FB04001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751821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66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OPERATING CRITERIA · VALUE CAPTURE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3405"/>
            <a:ext cx="6908627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AI CREATES VALUE WHERE WORK IS REPETITIVE, INFORMATION-RICH, AND MEASURABLE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868686"/>
            <a:ext cx="69086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AUTOMATE ROUTINE 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262386"/>
            <a:ext cx="690862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Remove high-frequency administrative drag across billing, documentation, and compliance triage; cycle time and straight-through processing are quantifiable.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3427611"/>
            <a:ext cx="69086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AUGMENT EXPERT DECISIONS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821311"/>
            <a:ext cx="690862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Equip underwriters, engineers, and clinicians with context-aware synthesis of unstructured archival knowledge for instantaneous risk and pricing recommendations.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4986536"/>
            <a:ext cx="69086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PERSONALIZE CUSTOMER EXPERIENCES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5380236"/>
            <a:ext cx="690862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Deliver tailored interactions and adaptive service at zero marginal distribution cost; drive retention through responsive, intent-aware workflows.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585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02</a:t>
            </a:r>
            <a:endParaRPr lang="en-US" sz="1000" dirty="0"/>
          </a:p>
        </p:txBody>
      </p:sp>
      <p:pic>
        <p:nvPicPr>
          <p:cNvPr id="21" name="Picture 20" descr="Vignan's Foundation for Science Technology and Research, Guntur | Guntur,  India">
            <a:extLst>
              <a:ext uri="{FF2B5EF4-FFF2-40B4-BE49-F238E27FC236}">
                <a16:creationId xmlns:a16="http://schemas.microsoft.com/office/drawing/2014/main" id="{0578A191-1457-1CBC-7B21-CF4A218D5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048" y="0"/>
            <a:ext cx="1378647" cy="699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F84618F-6C8C-DAA6-126E-05EA3A267760}"/>
              </a:ext>
            </a:extLst>
          </p:cNvPr>
          <p:cNvSpPr txBox="1"/>
          <p:nvPr/>
        </p:nvSpPr>
        <p:spPr>
          <a:xfrm>
            <a:off x="11124572" y="6520701"/>
            <a:ext cx="1031693" cy="3214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>
              <a:lnSpc>
                <a:spcPct val="77000"/>
              </a:lnSpc>
            </a:pPr>
            <a:r>
              <a:rPr lang="en-US" kern="100" spc="-52" dirty="0">
                <a:solidFill>
                  <a:schemeClr val="bg1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261FB04001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CB21F062-8863-E183-E50F-43C0744B1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8838" y="6440919"/>
            <a:ext cx="1103162" cy="36166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66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SYSTEM ARCHITECTURE · CORE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10972526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6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THREE AI PATTERNS COVER MOST BUSINESS OPPORTUNITIES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236192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E0703A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502892"/>
            <a:ext cx="3352716" cy="19050"/>
          </a:xfrm>
          <a:prstGeom prst="rect">
            <a:avLst/>
          </a:prstGeom>
          <a:solidFill>
            <a:srgbClr val="E07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585" y="2643227"/>
            <a:ext cx="335271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66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PATTERN 01 ·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585" y="2910205"/>
            <a:ext cx="3352716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kern="100" spc="28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PREDICT: SPOT SIGNALS IN DATA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09585" y="3777258"/>
            <a:ext cx="3352716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Isolate anomalies, forecast churn, and anticipate operational bottlenecks before escalation. Predictive engines ingest historical volume to surface leading indicators for leadership action.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19489" y="2236192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E0703A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19489" y="2502892"/>
            <a:ext cx="3352716" cy="19050"/>
          </a:xfrm>
          <a:prstGeom prst="rect">
            <a:avLst/>
          </a:prstGeom>
          <a:solidFill>
            <a:srgbClr val="E07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19489" y="2643227"/>
            <a:ext cx="335271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66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PATTERN 02 · CREATION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19489" y="2910205"/>
            <a:ext cx="3352716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kern="100" spc="28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GENERATE: CREATE USEFUL FIRST DRAFTS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19489" y="3777258"/>
            <a:ext cx="3352716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Accelerate creative and analytical throughput across communications, code synthesis, and structured summaries. Human domain specialists edit and verify rather than composing from scratch.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394" y="2236192"/>
            <a:ext cx="8333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E0703A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394" y="2502892"/>
            <a:ext cx="3352716" cy="19050"/>
          </a:xfrm>
          <a:prstGeom prst="rect">
            <a:avLst/>
          </a:prstGeom>
          <a:solidFill>
            <a:srgbClr val="E07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394" y="2643227"/>
            <a:ext cx="335271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66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PATTERN 03 · EXECUTION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394" y="2910205"/>
            <a:ext cx="3352716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kern="100" spc="28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ACT: CONNECT INSIGHT TO WORKFLOW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394" y="3777258"/>
            <a:ext cx="3352716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Trigger governed downstream handoffs across internal systems, enterprise ERPs, and customer portals. Operational leverage compounds when synthesis initiates direct execution.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03</a:t>
            </a:r>
            <a:endParaRPr lang="en-US" sz="1000" dirty="0"/>
          </a:p>
        </p:txBody>
      </p:sp>
      <p:pic>
        <p:nvPicPr>
          <p:cNvPr id="23" name="Picture 22" descr="Vignan's Foundation for Science Technology and Research, Guntur | Guntur,  India">
            <a:extLst>
              <a:ext uri="{FF2B5EF4-FFF2-40B4-BE49-F238E27FC236}">
                <a16:creationId xmlns:a16="http://schemas.microsoft.com/office/drawing/2014/main" id="{F8CFB427-E82A-25F1-1B6B-2D8758E86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048" y="0"/>
            <a:ext cx="1378647" cy="699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858103B-0425-D6A1-1D16-694C84441B7C}"/>
              </a:ext>
            </a:extLst>
          </p:cNvPr>
          <p:cNvSpPr txBox="1"/>
          <p:nvPr/>
        </p:nvSpPr>
        <p:spPr>
          <a:xfrm>
            <a:off x="11124572" y="6520701"/>
            <a:ext cx="1031693" cy="3214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>
              <a:lnSpc>
                <a:spcPct val="77000"/>
              </a:lnSpc>
            </a:pPr>
            <a:r>
              <a:rPr lang="en-US" kern="100" spc="-52" dirty="0">
                <a:solidFill>
                  <a:schemeClr val="bg1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261FB04001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66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PORTFOLIO PRIORITIZATION · PILOT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10972526" cy="11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6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START WITH HIGH-VALUE USE CASES, NOT THE LOUDEST DEMOS</a:t>
            </a:r>
            <a:endParaRPr lang="en-US" sz="4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285305"/>
            <a:ext cx="6603835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917505"/>
            <a:ext cx="694920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D93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Illustrative AI use-case prioritization · Directional evaluation matrix (scale 1–10)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87386" y="2495153"/>
            <a:ext cx="37947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TARGET THE HIGH-LEVERAGE WEDGE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87386" y="2888853"/>
            <a:ext cx="37947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Workflow automation yields top-tier business value (9) at modest execution complexity (4), delivering immediate payback without architectural upheaval.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87386" y="4155678"/>
            <a:ext cx="37947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AVOID EARLY AUTONOMOUS TRAPS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87386" y="4549378"/>
            <a:ext cx="379472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Autonomous operations promise equal impact (9) but demand extreme engineering overhead (9). Defer full autonomy until frontline data foundations mature.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29714" y="212725"/>
            <a:ext cx="76198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52442" y="2167731"/>
            <a:ext cx="12700" cy="4080669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Picture 12" descr="Vignan's Foundation for Science Technology and Research, Guntur | Guntur,  India">
            <a:extLst>
              <a:ext uri="{FF2B5EF4-FFF2-40B4-BE49-F238E27FC236}">
                <a16:creationId xmlns:a16="http://schemas.microsoft.com/office/drawing/2014/main" id="{A3DA3538-1D1A-2E99-A2E9-20723F723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048" y="0"/>
            <a:ext cx="1378647" cy="699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78A697-524A-8E84-A426-78A1E64F3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8838" y="6496336"/>
            <a:ext cx="1103162" cy="3616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9327370-5AF6-3437-41E5-24C87CE664D4}"/>
              </a:ext>
            </a:extLst>
          </p:cNvPr>
          <p:cNvSpPr txBox="1"/>
          <p:nvPr/>
        </p:nvSpPr>
        <p:spPr>
          <a:xfrm>
            <a:off x="11124572" y="6520701"/>
            <a:ext cx="1031693" cy="3214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>
              <a:lnSpc>
                <a:spcPct val="77000"/>
              </a:lnSpc>
            </a:pPr>
            <a:r>
              <a:rPr lang="en-US" kern="100" spc="-52" dirty="0">
                <a:solidFill>
                  <a:schemeClr val="bg1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261FB04001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66" dirty="0">
                <a:solidFill>
                  <a:srgbClr val="A39D93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EXECUTION DISCIPLINE · OPERATING CADENCE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835"/>
            <a:ext cx="10972526" cy="1109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600" dirty="0">
                <a:solidFill>
                  <a:srgbClr val="EDE7DD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THE WINNING MOVE IS A FOCUSED LOOP: CHOOSE, TEST, LEARN, SCALE</a:t>
            </a:r>
            <a:endParaRPr lang="en-US" sz="4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48681"/>
            <a:ext cx="476238" cy="47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805906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CHOOSE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3199606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One measurable business problem with unambiguous unit economics.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148681"/>
            <a:ext cx="476238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4442" y="2805906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TEST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324442" y="3199606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Directly alongside frontline operators who live the daily workflow.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427141"/>
            <a:ext cx="476238" cy="476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5084366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LEARN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609585" y="5478066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Real-time telemetry on output accuracy, adoption velocity, and edge failures.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4427141"/>
            <a:ext cx="476238" cy="4762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24442" y="5084366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000" b="1" kern="100" spc="20" dirty="0">
                <a:solidFill>
                  <a:srgbClr val="EDE7DD"/>
                </a:solidFill>
                <a:latin typeface="Sofia Sans Extra Condensed Bold" pitchFamily="34" charset="0"/>
                <a:ea typeface="Sofia Sans Extra Condensed Bold" pitchFamily="34" charset="-122"/>
                <a:cs typeface="Sofia Sans Extra Condensed Bold" pitchFamily="34" charset="-120"/>
              </a:rPr>
              <a:t>SCALE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324442" y="5478066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EDE7D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Institutionalize systems that earn operator trust and compound margin.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089498" y="2148681"/>
            <a:ext cx="12700" cy="2049859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609585" y="4192191"/>
            <a:ext cx="5486263" cy="1270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6089498" y="4198541"/>
            <a:ext cx="12700" cy="2049859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6095848" y="4192191"/>
            <a:ext cx="5486263" cy="12700"/>
          </a:xfrm>
          <a:prstGeom prst="rect">
            <a:avLst/>
          </a:prstGeom>
          <a:solidFill>
            <a:srgbClr val="EDE7DD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Picture 20" descr="Vignan's Foundation for Science Technology and Research, Guntur | Guntur,  India">
            <a:extLst>
              <a:ext uri="{FF2B5EF4-FFF2-40B4-BE49-F238E27FC236}">
                <a16:creationId xmlns:a16="http://schemas.microsoft.com/office/drawing/2014/main" id="{72BD4B80-E4FA-921F-857C-8141C36DE1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3048" y="0"/>
            <a:ext cx="1378647" cy="699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4F8F67-BA03-E87E-4261-C83907CE20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8838" y="6496336"/>
            <a:ext cx="1103162" cy="3616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B0F8CB3-DEFD-FD76-B186-FA49988FCE52}"/>
              </a:ext>
            </a:extLst>
          </p:cNvPr>
          <p:cNvSpPr txBox="1"/>
          <p:nvPr/>
        </p:nvSpPr>
        <p:spPr>
          <a:xfrm>
            <a:off x="11124572" y="6520701"/>
            <a:ext cx="1031693" cy="3214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>
              <a:lnSpc>
                <a:spcPct val="77000"/>
              </a:lnSpc>
            </a:pPr>
            <a:r>
              <a:rPr lang="en-US" kern="100" spc="-52" dirty="0">
                <a:solidFill>
                  <a:schemeClr val="bg1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261FB04001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518</Words>
  <Application>Microsoft Office PowerPoint</Application>
  <PresentationFormat>Widescreen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Sofia Sans Extra Condensed ExtraBold</vt:lpstr>
      <vt:lpstr>Rethink Sans</vt:lpstr>
      <vt:lpstr>Sofia Sans Extra Condensed Bold</vt:lpstr>
      <vt:lpstr>Red Hat Mono Medium</vt:lpstr>
      <vt:lpstr>Rethink Sans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TEJA</cp:lastModifiedBy>
  <cp:revision>10</cp:revision>
  <dcterms:created xsi:type="dcterms:W3CDTF">2026-10-07T04:36:17Z</dcterms:created>
  <dcterms:modified xsi:type="dcterms:W3CDTF">2026-10-07T08:57:10Z</dcterms:modified>
</cp:coreProperties>
</file>